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10287000" cx="18288000"/>
  <p:notesSz cx="6858000" cy="9144000"/>
  <p:embeddedFontLst>
    <p:embeddedFont>
      <p:font typeface="Public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j1MQ+MA8B7Gf6Ygtj8VwvYLmNY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ublicSans-bold.fntdata"/><Relationship Id="rId14" Type="http://schemas.openxmlformats.org/officeDocument/2006/relationships/slide" Target="slides/slide9.xml"/><Relationship Id="rId36" Type="http://schemas.openxmlformats.org/officeDocument/2006/relationships/font" Target="fonts/PublicSans-regular.fntdata"/><Relationship Id="rId17" Type="http://schemas.openxmlformats.org/officeDocument/2006/relationships/slide" Target="slides/slide12.xml"/><Relationship Id="rId39" Type="http://schemas.openxmlformats.org/officeDocument/2006/relationships/font" Target="fonts/Public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Public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b06e623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6b06e623c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b06e623c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6b06e623c5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b06e623c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6b06e623c5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b06e623c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6b06e623c5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b06e623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6b06e623c5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b06e623c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6b06e623c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b06e623c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6b06e623c5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b06e623c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6b06e623c5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b06e623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6b06e623c5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b06e623c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6b06e623c5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b06e623c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6b06e623c5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b06e623c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6b06e623c5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b06e623c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6b06e623c5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164492" y="3428996"/>
            <a:ext cx="6838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b="1" lang="en-US" sz="4599">
                <a:latin typeface="Public Sans"/>
                <a:ea typeface="Public Sans"/>
                <a:cs typeface="Public Sans"/>
                <a:sym typeface="Public Sans"/>
              </a:rPr>
              <a:t>READING</a:t>
            </a:r>
            <a:r>
              <a:rPr b="1" i="0" lang="en-US" sz="4599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TERM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935800" y="4789500"/>
            <a:ext cx="12854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lang="en-US" sz="4599">
                <a:solidFill>
                  <a:srgbClr val="5E17EB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</a:t>
            </a:r>
            <a:r>
              <a:rPr b="1" i="0" lang="en-US" sz="4599" u="none" cap="none" strike="noStrike">
                <a:solidFill>
                  <a:srgbClr val="5E17EB"/>
                </a:solidFill>
                <a:latin typeface="Public Sans"/>
                <a:ea typeface="Public Sans"/>
                <a:cs typeface="Public Sans"/>
                <a:sym typeface="Public Sans"/>
              </a:rPr>
              <a:t>LESSON 01: </a:t>
            </a:r>
            <a:r>
              <a:rPr b="1" lang="en-US" sz="4599">
                <a:solidFill>
                  <a:srgbClr val="5E17EB"/>
                </a:solidFill>
                <a:latin typeface="Public Sans"/>
                <a:ea typeface="Public Sans"/>
                <a:cs typeface="Public Sans"/>
                <a:sym typeface="Public Sans"/>
              </a:rPr>
              <a:t>LIFE IN A 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771375" y="7656575"/>
            <a:ext cx="1272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Teacher: Quang Dang (M.A)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838175" y="593450"/>
            <a:ext cx="8496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HANOI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/>
        </p:nvSpPr>
        <p:spPr>
          <a:xfrm>
            <a:off x="7162800" y="1630369"/>
            <a:ext cx="3936499" cy="751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5E17EB"/>
                </a:solidFill>
                <a:latin typeface="Public Sans"/>
                <a:ea typeface="Public Sans"/>
                <a:cs typeface="Public Sans"/>
                <a:sym typeface="Public Sans"/>
              </a:rPr>
              <a:t>ABOUT 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2971800" y="2857500"/>
            <a:ext cx="13678984" cy="397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4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5775" lvl="1" marL="97155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BA English Studies, Hanoi University, VN.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 TESOL, Nottingham Trent University, UK.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5775" lvl="1" marL="97155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Teacher of English since 2019.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/>
        </p:nvSpPr>
        <p:spPr>
          <a:xfrm>
            <a:off x="622425" y="241325"/>
            <a:ext cx="7938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PEOPLE LEAVE PHOTOS OF THEMSELVES </a:t>
            </a:r>
            <a:r>
              <a:rPr b="1" lang="en-US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ON A WALL AT THE PANDA POST OFFICE</a:t>
            </a:r>
            <a:r>
              <a:rPr lang="en-US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IN CHENGDU, CHINA: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9729045" y="1996022"/>
            <a:ext cx="8115300" cy="56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716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-US" sz="3000"/>
              <a:t>LOOK AT THE PHOTO AND READ THE CAPTION</a:t>
            </a:r>
            <a:endParaRPr sz="3000"/>
          </a:p>
          <a:p>
            <a:pPr indent="-419100" lvl="0" marL="4572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WHAT DO YOU TAKE PHOTOS OF ON A TYPICAL DAY? WOULD YOU LIKE TO ADD PHOTOS TO THIS WALL?</a:t>
            </a:r>
            <a:endParaRPr sz="3000"/>
          </a:p>
          <a:p>
            <a:pPr indent="-419100" lvl="0" marL="4572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WHICH DAY OF THE WEEK DO YOU LIKE BEST? WHICH DAY OF THE WEEK DO YOU LIKE LEAST? WHY.</a:t>
            </a:r>
            <a:endParaRPr sz="3000"/>
          </a:p>
        </p:txBody>
      </p:sp>
      <p:pic>
        <p:nvPicPr>
          <p:cNvPr id="100" name="Google Shape;100;p8" title="Ảnh chụp Màn hình 2025-06-26 lúc 14.13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975" y="2113775"/>
            <a:ext cx="7351200" cy="76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 txBox="1"/>
          <p:nvPr/>
        </p:nvSpPr>
        <p:spPr>
          <a:xfrm>
            <a:off x="10756725" y="587150"/>
            <a:ext cx="610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FOR DISCUSSION: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/>
        </p:nvSpPr>
        <p:spPr>
          <a:xfrm>
            <a:off x="4676481" y="-441643"/>
            <a:ext cx="93252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t/>
            </a:r>
            <a:endParaRPr b="1" i="0" sz="4599" u="none" cap="none" strike="noStrike">
              <a:solidFill>
                <a:srgbClr val="5E17E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8173225" y="1996025"/>
            <a:ext cx="9793800" cy="6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4399">
                <a:latin typeface="Public Sans"/>
                <a:ea typeface="Public Sans"/>
                <a:cs typeface="Public Sans"/>
                <a:sym typeface="Public Sans"/>
              </a:rPr>
              <a:t>OOK AT THE PHOTO AND ANSWER</a:t>
            </a:r>
            <a:endParaRPr sz="4399">
              <a:latin typeface="Public Sans"/>
              <a:ea typeface="Public Sans"/>
              <a:cs typeface="Public Sans"/>
              <a:sym typeface="Public Sans"/>
            </a:endParaRPr>
          </a:p>
          <a:p>
            <a:pPr indent="-520636" lvl="0" marL="4572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SzPts val="4599"/>
              <a:buFont typeface="Public Sans"/>
              <a:buChar char="●"/>
            </a:pP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How many people </a:t>
            </a:r>
            <a:r>
              <a:rPr b="1" lang="en-US" sz="4599">
                <a:latin typeface="Public Sans"/>
                <a:ea typeface="Public Sans"/>
                <a:cs typeface="Public Sans"/>
                <a:sym typeface="Public Sans"/>
              </a:rPr>
              <a:t>move to a new city </a:t>
            </a: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everyday? How many use a </a:t>
            </a:r>
            <a:r>
              <a:rPr b="1" lang="en-US" sz="4599">
                <a:latin typeface="Public Sans"/>
                <a:ea typeface="Public Sans"/>
                <a:cs typeface="Public Sans"/>
                <a:sym typeface="Public Sans"/>
              </a:rPr>
              <a:t>cellphone</a:t>
            </a: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?</a:t>
            </a:r>
            <a:endParaRPr sz="4599">
              <a:latin typeface="Public Sans"/>
              <a:ea typeface="Public Sans"/>
              <a:cs typeface="Public Sans"/>
              <a:sym typeface="Public Sans"/>
            </a:endParaRPr>
          </a:p>
          <a:p>
            <a:pPr indent="-520636" lvl="0" marL="4572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SzPts val="4599"/>
              <a:buFont typeface="Public Sans"/>
              <a:buChar char="●"/>
            </a:pP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Do you use </a:t>
            </a:r>
            <a:r>
              <a:rPr b="1" lang="en-US" sz="4599">
                <a:latin typeface="Public Sans"/>
                <a:ea typeface="Public Sans"/>
                <a:cs typeface="Public Sans"/>
                <a:sym typeface="Public Sans"/>
              </a:rPr>
              <a:t>social media </a:t>
            </a: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everyday? What </a:t>
            </a:r>
            <a:r>
              <a:rPr b="1" lang="en-US" sz="4599">
                <a:latin typeface="Public Sans"/>
                <a:ea typeface="Public Sans"/>
                <a:cs typeface="Public Sans"/>
                <a:sym typeface="Public Sans"/>
              </a:rPr>
              <a:t>kinds of things</a:t>
            </a:r>
            <a:r>
              <a:rPr lang="en-US" sz="4599">
                <a:latin typeface="Public Sans"/>
                <a:ea typeface="Public Sans"/>
                <a:cs typeface="Public Sans"/>
                <a:sym typeface="Public Sans"/>
              </a:rPr>
              <a:t> do you use it for?</a:t>
            </a:r>
            <a:endParaRPr sz="4599"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08" name="Google Shape;108;p9" title="Ảnh chụp Màn hình 2025-06-26 lúc 14.20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25" y="1282600"/>
            <a:ext cx="7034398" cy="858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 title="Ảnh chụp Màn hình 2025-06-26 lúc 14.53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9600" y="0"/>
            <a:ext cx="18734224" cy="101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1" title="Ảnh chụp Màn hình 2025-06-26 lúc 14.53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17955550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2" title="Ảnh chụp Màn hình 2025-06-26 lúc 14.53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7861600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 title="Ảnh chụp Màn hình 2025-06-26 lúc 14.54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00" y="-93950"/>
            <a:ext cx="18025999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5" title="Ảnh chụp Màn hình 2025-06-26 lúc 14.54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825" y="1338725"/>
            <a:ext cx="16252526" cy="65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title="Ảnh chụp Màn hình 2025-06-26 lúc 14.55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400" y="1009925"/>
            <a:ext cx="8187600" cy="91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5E17EB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3800">
                <a:solidFill>
                  <a:srgbClr val="5E17EB"/>
                </a:solidFill>
                <a:latin typeface="Calibri"/>
                <a:ea typeface="Calibri"/>
                <a:cs typeface="Calibri"/>
                <a:sym typeface="Calibri"/>
              </a:rPr>
              <a:t>READING</a:t>
            </a:r>
            <a:r>
              <a:rPr b="1" lang="en-US" sz="3800">
                <a:solidFill>
                  <a:srgbClr val="5E17EB"/>
                </a:solidFill>
                <a:latin typeface="Calibri"/>
                <a:ea typeface="Calibri"/>
                <a:cs typeface="Calibri"/>
                <a:sym typeface="Calibri"/>
              </a:rPr>
              <a:t> 01</a:t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title="Ảnh chụp Màn hình 2025-06-26 lúc 17.21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title="Ảnh chụp Màn hình 2025-06-26 lúc 17.22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1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title="Ảnh chụp Màn hình 2025-06-26 lúc 17.24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75" y="1150825"/>
            <a:ext cx="17779126" cy="60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1028700" y="1381759"/>
            <a:ext cx="1589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0" title="Ảnh chụp Màn hình 2025-06-26 lúc 17.25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175" y="352300"/>
            <a:ext cx="12165925" cy="54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title="Ảnh chụp Màn hình 2025-06-26 lúc 17.25.58.png"/>
          <p:cNvPicPr preferRelativeResize="0"/>
          <p:nvPr/>
        </p:nvPicPr>
        <p:blipFill rotWithShape="1">
          <a:blip r:embed="rId4">
            <a:alphaModFix/>
          </a:blip>
          <a:srcRect b="-7539" l="0" r="0" t="7540"/>
          <a:stretch/>
        </p:blipFill>
        <p:spPr>
          <a:xfrm>
            <a:off x="2278175" y="5801125"/>
            <a:ext cx="11226450" cy="46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/>
        </p:nvSpPr>
        <p:spPr>
          <a:xfrm>
            <a:off x="565539" y="733425"/>
            <a:ext cx="17215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518602" y="-85725"/>
            <a:ext cx="521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1" title="Ảnh chụp Màn hình 2025-06-26 lúc 17.28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450" y="1479625"/>
            <a:ext cx="14913800" cy="62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b06e623c5_0_13"/>
          <p:cNvSpPr txBox="1"/>
          <p:nvPr/>
        </p:nvSpPr>
        <p:spPr>
          <a:xfrm>
            <a:off x="565539" y="733425"/>
            <a:ext cx="17215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4" name="Google Shape;174;g36b06e623c5_0_13"/>
          <p:cNvSpPr txBox="1"/>
          <p:nvPr/>
        </p:nvSpPr>
        <p:spPr>
          <a:xfrm>
            <a:off x="6518602" y="-85725"/>
            <a:ext cx="521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g36b06e623c5_0_13" title="Ảnh chụp Màn hình 2025-06-26 lúc 17.32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700" y="243300"/>
            <a:ext cx="12212900" cy="93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b06e623c5_0_21"/>
          <p:cNvSpPr txBox="1"/>
          <p:nvPr/>
        </p:nvSpPr>
        <p:spPr>
          <a:xfrm>
            <a:off x="565539" y="733425"/>
            <a:ext cx="17215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1" name="Google Shape;181;g36b06e623c5_0_21"/>
          <p:cNvSpPr txBox="1"/>
          <p:nvPr/>
        </p:nvSpPr>
        <p:spPr>
          <a:xfrm>
            <a:off x="6518602" y="-85725"/>
            <a:ext cx="521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6b06e623c5_0_21" title="Ảnh chụp Màn hình 2025-06-26 lúc 17.30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675" y="437250"/>
            <a:ext cx="11191500" cy="905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2871609" y="1416516"/>
            <a:ext cx="1317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2" title="Ảnh chụp Màn hình 2025-06-26 lúc 17.34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75" y="1111200"/>
            <a:ext cx="17379850" cy="621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b06e623c5_0_30"/>
          <p:cNvSpPr txBox="1"/>
          <p:nvPr/>
        </p:nvSpPr>
        <p:spPr>
          <a:xfrm>
            <a:off x="2871609" y="1416516"/>
            <a:ext cx="1317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6b06e623c5_0_30" title="Ảnh chụp Màn hình 2025-06-26 lúc 17.35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000" y="1631925"/>
            <a:ext cx="14091774" cy="60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06e623c5_0_37"/>
          <p:cNvSpPr txBox="1"/>
          <p:nvPr/>
        </p:nvSpPr>
        <p:spPr>
          <a:xfrm>
            <a:off x="2871609" y="1416516"/>
            <a:ext cx="1317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6b06e623c5_0_37" title="Ảnh chụp Màn hình 2025-06-26 lúc 17.36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600" y="915975"/>
            <a:ext cx="15172150" cy="775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b06e623c5_0_43"/>
          <p:cNvSpPr txBox="1"/>
          <p:nvPr/>
        </p:nvSpPr>
        <p:spPr>
          <a:xfrm>
            <a:off x="2871609" y="1416516"/>
            <a:ext cx="1317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36b06e623c5_0_43" title="Ảnh chụp Màn hình 2025-06-26 lúc 17.36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425" y="986425"/>
            <a:ext cx="16322974" cy="75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b06e623c5_0_49"/>
          <p:cNvSpPr txBox="1"/>
          <p:nvPr/>
        </p:nvSpPr>
        <p:spPr>
          <a:xfrm>
            <a:off x="2871609" y="1416516"/>
            <a:ext cx="1317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6b06e623c5_0_49" title="Ảnh chụp Màn hình 2025-06-26 lúc 17.36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4325"/>
            <a:ext cx="17391876" cy="68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b06e623c5_0_55"/>
          <p:cNvSpPr txBox="1"/>
          <p:nvPr/>
        </p:nvSpPr>
        <p:spPr>
          <a:xfrm>
            <a:off x="2871609" y="336141"/>
            <a:ext cx="1317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6b06e623c5_0_55" title="Ảnh chụp Màn hình 2025-06-26 lúc 17.36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6250"/>
            <a:ext cx="17603250" cy="80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b06e623c5_0_61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5E17EB"/>
                </a:solidFill>
                <a:latin typeface="Calibri"/>
                <a:ea typeface="Calibri"/>
                <a:cs typeface="Calibri"/>
                <a:sym typeface="Calibri"/>
              </a:rPr>
              <a:t>   READING 02</a:t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g36b06e623c5_0_61" title="Ảnh chụp Màn hình 2025-06-26 lúc 18.06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525" y="1409175"/>
            <a:ext cx="11837100" cy="7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06e623c5_0_67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g36b06e623c5_0_67" title="Ảnh chụp Màn hình 2025-06-26 lúc 18.09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700" y="2231200"/>
            <a:ext cx="16528726" cy="54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b06e623c5_0_73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g36b06e623c5_0_73" title="Ảnh chụp Màn hình 2025-06-26 lúc 18.11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25" y="780975"/>
            <a:ext cx="16851675" cy="797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b06e623c5_0_79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36b06e623c5_0_79" title="Ảnh chụp Màn hình 2025-06-26 lúc 18.11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125" y="563650"/>
            <a:ext cx="15031226" cy="85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b06e623c5_0_85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6b06e623c5_0_85" title="Ảnh chụp Màn hình 2025-06-26 lúc 18.12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525" y="933900"/>
            <a:ext cx="15524451" cy="88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b06e623c5_0_91"/>
          <p:cNvSpPr txBox="1"/>
          <p:nvPr/>
        </p:nvSpPr>
        <p:spPr>
          <a:xfrm>
            <a:off x="6693600" y="164400"/>
            <a:ext cx="36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rgbClr val="5E1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g36b06e623c5_0_91" title="Ảnh chụp Màn hình 2025-06-26 lúc 18.13.40.png"/>
          <p:cNvPicPr preferRelativeResize="0"/>
          <p:nvPr/>
        </p:nvPicPr>
        <p:blipFill rotWithShape="1">
          <a:blip r:embed="rId3">
            <a:alphaModFix/>
          </a:blip>
          <a:srcRect b="0" l="0" r="0" t="11142"/>
          <a:stretch/>
        </p:blipFill>
        <p:spPr>
          <a:xfrm>
            <a:off x="1831925" y="1153275"/>
            <a:ext cx="14091775" cy="49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/>
        </p:nvSpPr>
        <p:spPr>
          <a:xfrm>
            <a:off x="1028700" y="1367762"/>
            <a:ext cx="16625400" cy="49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lang="en-US" sz="3999">
                <a:solidFill>
                  <a:srgbClr val="5E17EB"/>
                </a:solidFill>
                <a:latin typeface="Public Sans"/>
                <a:ea typeface="Public Sans"/>
                <a:cs typeface="Public Sans"/>
                <a:sym typeface="Public Sans"/>
              </a:rPr>
              <a:t>POST-READING</a:t>
            </a:r>
            <a:endParaRPr b="1" i="0" sz="3999" u="none" cap="none" strike="noStrike">
              <a:solidFill>
                <a:srgbClr val="5E17E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Public Sans"/>
              <a:buChar char="●"/>
            </a:pPr>
            <a:r>
              <a:rPr lang="en-US" sz="3999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 day in your life (100 words)</a:t>
            </a:r>
            <a:endParaRPr sz="3999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Public Sans"/>
              <a:buChar char="●"/>
            </a:pPr>
            <a:r>
              <a:rPr lang="en-US" sz="3999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Apply vocab &amp; ideas in the 2 reading texts</a:t>
            </a:r>
            <a:endParaRPr sz="3999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482536" lvl="0" marL="45720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Public Sans"/>
              <a:buChar char="●"/>
            </a:pPr>
            <a:r>
              <a:rPr lang="en-US" sz="3999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Share it with the class</a:t>
            </a:r>
            <a:endParaRPr sz="3999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